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Inter" panose="02000503000000020004" pitchFamily="2" charset="0"/>
      <p:regular r:id="rId12"/>
      <p:bold r:id="rId13"/>
      <p:italic r:id="rId14"/>
      <p:boldItalic r:id="rId15"/>
    </p:embeddedFont>
    <p:embeddedFont>
      <p:font typeface="Inter SemiBold" panose="02000503000000020004" pitchFamily="2" charset="0"/>
      <p:regular r:id="rId16"/>
      <p:bold r:id="rId17"/>
      <p:italic r:id="rId18"/>
      <p:boldItalic r:id="rId19"/>
    </p:embeddedFont>
    <p:embeddedFont>
      <p:font typeface="Urbanist" panose="020B0A04040200000203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8B81C58-8BD1-45E1-98A0-5182F5D1BD23}">
  <a:tblStyle styleId="{98B81C58-8BD1-45E1-98A0-5182F5D1BD2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3"/>
  </p:normalViewPr>
  <p:slideViewPr>
    <p:cSldViewPr snapToGrid="0">
      <p:cViewPr varScale="1">
        <p:scale>
          <a:sx n="99" d="100"/>
          <a:sy n="99" d="100"/>
        </p:scale>
        <p:origin x="960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524500" y="1439167"/>
            <a:ext cx="11430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1858267"/>
            <a:ext cx="11601450" cy="16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Анализ эффективности службы поддержки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085975" y="3953767"/>
            <a:ext cx="8020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Проект Ашурова Наргиза</a:t>
            </a:r>
            <a:r>
              <a:rPr lang="en-US" sz="21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| Июнь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95525"/>
            <a:ext cx="2920454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ОБЩИЙ СТАТУС ОБРАБОТКИ ОБРАЩЕНИЙ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12477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444454" y="2638425"/>
            <a:ext cx="753484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8A"/>
                </a:solidFill>
                <a:latin typeface="Urbanist"/>
                <a:ea typeface="Urbanist"/>
                <a:cs typeface="Urbanist"/>
                <a:sym typeface="Urbanist"/>
              </a:rPr>
              <a:t>Высокий уровень исполнения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4444454" y="3190875"/>
            <a:ext cx="717604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88% всех поступивших тикетов успешно завершены (статусы "Закрыт" и "Выполнен").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444454" y="3990975"/>
            <a:ext cx="717604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Текущий бэклог: 12% (995 тикетов)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444454" y="4486275"/>
            <a:ext cx="717604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Основные причины задержек: ожидание ответа клиента и объединение дублей.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43250" y="2490787"/>
            <a:ext cx="6267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43250" y="2967037"/>
            <a:ext cx="6267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43250" y="3443287"/>
            <a:ext cx="6267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43250" y="3919537"/>
            <a:ext cx="6267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43250" y="2490787"/>
            <a:ext cx="6267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43250" y="2967037"/>
            <a:ext cx="2005458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43250" y="3443287"/>
            <a:ext cx="1128117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43250" y="3919537"/>
            <a:ext cx="939998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WHATSAPP — КЛЮЧЕВОЙ КАНАЛ ВЗАИМОДЕЙСТВИЯ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12477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4633912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Более 60% всего трафика поддержки приходится на WhatsApp, что требует приоритетного внимания к стабильности этого канала.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2557462"/>
            <a:ext cx="2381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WhatsApp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3033712"/>
            <a:ext cx="2381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Telegram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3509962"/>
            <a:ext cx="2381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Facebook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3986212"/>
            <a:ext cx="2381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Instagram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43250" y="2490787"/>
            <a:ext cx="6267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43250" y="2967037"/>
            <a:ext cx="6267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43250" y="3443287"/>
            <a:ext cx="6267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43250" y="3919537"/>
            <a:ext cx="6267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43250" y="2490787"/>
            <a:ext cx="62674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43250" y="2967037"/>
            <a:ext cx="1629519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43250" y="3443287"/>
            <a:ext cx="1128117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43250" y="3919537"/>
            <a:ext cx="313283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СТРУКТУРА ЗАПРОСОВ ПО ТЕМАТИКАМ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12477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4633912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Превалирование категории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"Консультация"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указывает на потенциал для внедрения базы знаний или AI-ассистента для автоматизации типовых ответов.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2557462"/>
            <a:ext cx="2381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Консультация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71500" y="3033712"/>
            <a:ext cx="2381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Проблема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3509962"/>
            <a:ext cx="2381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Диалог не состоялся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71500" y="3986212"/>
            <a:ext cx="2381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Тест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МАТРИЦА НАГРУЗКИ: КАНАЛЫ VS КАТЕГОРИИ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12477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8" name="Google Shape;148;p17"/>
          <p:cNvGraphicFramePr/>
          <p:nvPr/>
        </p:nvGraphicFramePr>
        <p:xfrm>
          <a:off x="571500" y="2309812"/>
          <a:ext cx="11039450" cy="2619400"/>
        </p:xfrm>
        <a:graphic>
          <a:graphicData uri="http://schemas.openxmlformats.org/drawingml/2006/table">
            <a:tbl>
              <a:tblPr firstRow="1" bandRow="1">
                <a:noFill/>
                <a:tableStyleId>{98B81C58-8BD1-45E1-98A0-5182F5D1BD23}</a:tableStyleId>
              </a:tblPr>
              <a:tblGrid>
                <a:gridCol w="3535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5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8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4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Категория / Канал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WhatsApp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Telegram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Facebook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1E3A8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Instagram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Консультация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4,024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1,556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140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157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Проблема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931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505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Диалог не состоялся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685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A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140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7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1E293B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36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9" name="Google Shape;149;p17"/>
          <p:cNvSpPr txBox="1"/>
          <p:nvPr/>
        </p:nvSpPr>
        <p:spPr>
          <a:xfrm>
            <a:off x="571500" y="5119687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Критический узел: Консультации в WhatsApp формируют 48% всей нагрузки.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38300"/>
            <a:ext cx="110490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ДИНАМИКА НАГРУЗКИ ПО ДНЯМ НЕДЕЛИ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71500" y="12477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4800600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ПнВтСр</a:t>
            </a:r>
            <a:r>
              <a:rPr lang="en-US" sz="1200" b="0" i="0" u="none" strike="noStrike" cap="none">
                <a:solidFill>
                  <a:srgbClr val="1E3A8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Чт (Пик)</a:t>
            </a:r>
            <a:r>
              <a:rPr lang="en-US" sz="12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ПтСбВс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537210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Вывод: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Среда, Четверг и Пятница являются периодами пиковой нагрузки. Рекомендуется усиление смен в эти дни для предотвращения деградации SLA.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ЭФФЕКТИВНОСТЬ ПЕРСОНАЛА (KPI)</a:t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571500" y="12477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2876550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1E3A8A"/>
                </a:solidFill>
                <a:latin typeface="Inter"/>
                <a:ea typeface="Inter"/>
                <a:cs typeface="Inter"/>
                <a:sym typeface="Inter"/>
              </a:rPr>
              <a:t>98%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571500" y="4495800"/>
            <a:ext cx="52387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Средний показатель закрытия (Топ-10 агентов)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381750" y="233362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3A8A"/>
                </a:solidFill>
                <a:latin typeface="Urbanist"/>
                <a:ea typeface="Urbanist"/>
                <a:cs typeface="Urbanist"/>
                <a:sym typeface="Urbanist"/>
              </a:rPr>
              <a:t>Ключевые инсайты: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810375" y="274320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Основной объем работы выполняется стабильным ядром опытных сотрудников.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838950" y="3590925"/>
            <a:ext cx="47815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Уровень "зависших" тикетов у топ-операторов не превышает 2%.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905625" y="4438650"/>
            <a:ext cx="47148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Средний приоритет всех задач в работе — "Средний", что позволяет гибко управлять очередью.</a:t>
            </a:r>
            <a:endParaRPr/>
          </a:p>
        </p:txBody>
      </p:sp>
      <p:pic>
        <p:nvPicPr>
          <p:cNvPr id="173" name="Google Shape;17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776537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6242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4471987"/>
            <a:ext cx="33337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F172A"/>
                </a:solidFill>
                <a:latin typeface="Urbanist"/>
                <a:ea typeface="Urbanist"/>
                <a:cs typeface="Urbanist"/>
                <a:sym typeface="Urbanist"/>
              </a:rPr>
              <a:t>СТРАТЕГИЧЕСКИЕ РЕКОМЕНДАЦИИ</a:t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571500" y="1247775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1095375" y="2843212"/>
            <a:ext cx="10525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Внедрение WhatsApp Чат-бота: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Автоматизация 30-40% типовых "Консультаций" позволит высвободить ресурс для сложных "Проблем".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1000125" y="3690937"/>
            <a:ext cx="10620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Оптимизация графиков: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Перераспределение штата с выходных на пиковые дни (Ср-Пт) для сокращения времени ответа.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1066800" y="4538662"/>
            <a:ext cx="9896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Развитие Self-Service: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Создание публичного раздела FAQ на базе самых частых вопросов из WhatsApp.</a:t>
            </a:r>
            <a:endParaRPr/>
          </a:p>
        </p:txBody>
      </p:sp>
      <p:pic>
        <p:nvPicPr>
          <p:cNvPr id="186" name="Google Shape;18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76550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24275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572000"/>
            <a:ext cx="3048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1898760" y="1634430"/>
            <a:ext cx="8394330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Вопросы и обсуждение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5524500" y="3025080"/>
            <a:ext cx="1143000" cy="381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5043487" y="3634680"/>
            <a:ext cx="21050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Спасибо за внимание!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</Words>
  <Application>Microsoft Macintosh PowerPoint</Application>
  <PresentationFormat>Широкоэкранный</PresentationFormat>
  <Paragraphs>57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Calibri</vt:lpstr>
      <vt:lpstr>Inter</vt:lpstr>
      <vt:lpstr>Arial</vt:lpstr>
      <vt:lpstr>Inter SemiBold</vt:lpstr>
      <vt:lpstr>Urbanist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Nargiza</cp:lastModifiedBy>
  <cp:revision>1</cp:revision>
  <dcterms:modified xsi:type="dcterms:W3CDTF">2026-06-06T15:21:55Z</dcterms:modified>
</cp:coreProperties>
</file>